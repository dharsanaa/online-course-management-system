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943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92D4B"/>
                </a:solidFill>
              </a:defRPr>
            </a:pPr>
            <a:r>
              <a:t>AR/VR Development</a:t>
            </a:r>
          </a:p>
          <a:p>
            <a:pPr algn="ctr">
              <a:defRPr sz="2600"/>
            </a:pPr>
            <a:r>
              <a:t>Learning Materials &amp;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1. Introduction to AR</a:t>
            </a:r>
          </a:p>
        </p:txBody>
      </p:sp>
      <p:pic>
        <p:nvPicPr>
          <p:cNvPr id="4" name="Picture 3" descr="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AR adds digital content to the real-world view.</a:t>
            </a:r>
          </a:p>
          <a:p>
            <a:pPr>
              <a:spcAft>
                <a:spcPts val="1200"/>
              </a:spcAft>
              <a:defRPr sz="1900"/>
            </a:pPr>
            <a:r>
              <a:t>Content may include 3D objects, text, images, or animations.</a:t>
            </a:r>
          </a:p>
          <a:p>
            <a:pPr>
              <a:spcAft>
                <a:spcPts val="1200"/>
              </a:spcAft>
              <a:defRPr sz="1900"/>
            </a:pPr>
            <a:r>
              <a:t>Cameras and sensors help understand the user's environment.</a:t>
            </a:r>
          </a:p>
          <a:p>
            <a:pPr>
              <a:spcAft>
                <a:spcPts val="1200"/>
              </a:spcAft>
              <a:defRPr sz="1900"/>
            </a:pPr>
            <a:r>
              <a:t>Example: viewing a 3D product through a smartphone.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2. Introduction to VR</a:t>
            </a:r>
          </a:p>
        </p:txBody>
      </p:sp>
      <p:pic>
        <p:nvPicPr>
          <p:cNvPr id="4" name="Picture 3" descr="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VR creates a computer-generated environment.</a:t>
            </a:r>
          </a:p>
          <a:p>
            <a:pPr>
              <a:spcAft>
                <a:spcPts val="1200"/>
              </a:spcAft>
              <a:defRPr sz="1900"/>
            </a:pPr>
            <a:r>
              <a:t>Users can look around and interact with a simulated world.</a:t>
            </a:r>
          </a:p>
          <a:p>
            <a:pPr>
              <a:spcAft>
                <a:spcPts val="1200"/>
              </a:spcAft>
              <a:defRPr sz="1900"/>
            </a:pPr>
            <a:r>
              <a:t>VR commonly uses headsets, controllers, sensors, and tracking.</a:t>
            </a:r>
          </a:p>
          <a:p>
            <a:pPr>
              <a:spcAft>
                <a:spcPts val="1200"/>
              </a:spcAft>
              <a:defRPr sz="1900"/>
            </a:pPr>
            <a:r>
              <a:t>Applications include training, education, simulation, and gaming.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3. AR vs VR</a:t>
            </a:r>
          </a:p>
        </p:txBody>
      </p:sp>
      <p:pic>
        <p:nvPicPr>
          <p:cNvPr id="4" name="Picture 3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AR keeps the real world visible and adds digital content.</a:t>
            </a:r>
          </a:p>
          <a:p>
            <a:pPr>
              <a:spcAft>
                <a:spcPts val="1200"/>
              </a:spcAft>
              <a:defRPr sz="1900"/>
            </a:pPr>
            <a:r>
              <a:t>VR replaces the normal view with a virtual environment.</a:t>
            </a:r>
          </a:p>
          <a:p>
            <a:pPr>
              <a:spcAft>
                <a:spcPts val="1200"/>
              </a:spcAft>
              <a:defRPr sz="1900"/>
            </a:pPr>
            <a:r>
              <a:t>AR is useful for information over real objects.</a:t>
            </a:r>
          </a:p>
          <a:p>
            <a:pPr>
              <a:spcAft>
                <a:spcPts val="1200"/>
              </a:spcAft>
              <a:defRPr sz="1900"/>
            </a:pPr>
            <a:r>
              <a:t>VR is useful for fully simulated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4. AR/VR Hardware</a:t>
            </a:r>
          </a:p>
        </p:txBody>
      </p:sp>
      <p:pic>
        <p:nvPicPr>
          <p:cNvPr id="4" name="Picture 3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AR: smartphones, tablets, smart glasses.</a:t>
            </a:r>
          </a:p>
          <a:p>
            <a:pPr>
              <a:spcAft>
                <a:spcPts val="1200"/>
              </a:spcAft>
              <a:defRPr sz="1900"/>
            </a:pPr>
            <a:r>
              <a:t>VR: headsets, controllers, tracking sensors, audio.</a:t>
            </a:r>
          </a:p>
          <a:p>
            <a:pPr>
              <a:spcAft>
                <a:spcPts val="1200"/>
              </a:spcAft>
              <a:defRPr sz="1900"/>
            </a:pPr>
            <a:r>
              <a:t>Cameras, gyroscopes, and accelerometers support tracking.</a:t>
            </a:r>
          </a:p>
          <a:p>
            <a:pPr>
              <a:spcAft>
                <a:spcPts val="1200"/>
              </a:spcAft>
              <a:defRPr sz="1900"/>
            </a:pPr>
            <a:r>
              <a:t>Haptic devices can provide physical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5. 3D Models and Environments</a:t>
            </a:r>
          </a:p>
        </p:txBody>
      </p:sp>
      <p:pic>
        <p:nvPicPr>
          <p:cNvPr id="4" name="Picture 3" descr="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3D models digitally represent objects.</a:t>
            </a:r>
          </a:p>
          <a:p>
            <a:pPr>
              <a:spcAft>
                <a:spcPts val="1200"/>
              </a:spcAft>
              <a:defRPr sz="1900"/>
            </a:pPr>
            <a:r>
              <a:t>Textures define appearance and materials define surface behavior.</a:t>
            </a:r>
          </a:p>
          <a:p>
            <a:pPr>
              <a:spcAft>
                <a:spcPts val="1200"/>
              </a:spcAft>
              <a:defRPr sz="1900"/>
            </a:pPr>
            <a:r>
              <a:t>Lighting and cameras improve realism.</a:t>
            </a:r>
          </a:p>
          <a:p>
            <a:pPr>
              <a:spcAft>
                <a:spcPts val="1200"/>
              </a:spcAft>
              <a:defRPr sz="1900"/>
            </a:pPr>
            <a:r>
              <a:t>A virtual environment combines objects, space, sound, and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6. AR Tracking</a:t>
            </a:r>
          </a:p>
        </p:txBody>
      </p:sp>
      <p:pic>
        <p:nvPicPr>
          <p:cNvPr id="4" name="Picture 3" descr="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Tracking detects device movement and surroundings.</a:t>
            </a:r>
          </a:p>
          <a:p>
            <a:pPr>
              <a:spcAft>
                <a:spcPts val="1200"/>
              </a:spcAft>
              <a:defRPr sz="1900"/>
            </a:pPr>
            <a:r>
              <a:t>Marker-based AR uses known visual markers.</a:t>
            </a:r>
          </a:p>
          <a:p>
            <a:pPr>
              <a:spcAft>
                <a:spcPts val="1200"/>
              </a:spcAft>
              <a:defRPr sz="1900"/>
            </a:pPr>
            <a:r>
              <a:t>Markerless AR uses environmental features and surfaces.</a:t>
            </a:r>
          </a:p>
          <a:p>
            <a:pPr>
              <a:spcAft>
                <a:spcPts val="1200"/>
              </a:spcAft>
              <a:defRPr sz="1900"/>
            </a:pPr>
            <a:r>
              <a:t>Accurate tracking keeps digital objects stable.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7. AR Interaction</a:t>
            </a:r>
          </a:p>
        </p:txBody>
      </p:sp>
      <p:pic>
        <p:nvPicPr>
          <p:cNvPr id="4" name="Picture 3" descr="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Users can interact through touch, gestures, movement, or device controls.</a:t>
            </a:r>
          </a:p>
          <a:p>
            <a:pPr>
              <a:spcAft>
                <a:spcPts val="1200"/>
              </a:spcAft>
              <a:defRPr sz="1900"/>
            </a:pPr>
            <a:r>
              <a:t>Objects can be rotated, scaled, selected, or moved.</a:t>
            </a:r>
          </a:p>
          <a:p>
            <a:pPr>
              <a:spcAft>
                <a:spcPts val="1200"/>
              </a:spcAft>
              <a:defRPr sz="1900"/>
            </a:pPr>
            <a:r>
              <a:t>Good interaction should be simple and responsive.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8. VR Interaction and Immersion</a:t>
            </a:r>
          </a:p>
        </p:txBody>
      </p:sp>
      <p:pic>
        <p:nvPicPr>
          <p:cNvPr id="4" name="Picture 3" descr="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VR allows users to move and interact with virtual objects.</a:t>
            </a:r>
          </a:p>
          <a:p>
            <a:pPr>
              <a:spcAft>
                <a:spcPts val="1200"/>
              </a:spcAft>
              <a:defRPr sz="1900"/>
            </a:pPr>
            <a:r>
              <a:t>Immersion depends on visuals, audio, tracking, and responsiveness.</a:t>
            </a:r>
          </a:p>
          <a:p>
            <a:pPr>
              <a:spcAft>
                <a:spcPts val="1200"/>
              </a:spcAft>
              <a:defRPr sz="1900"/>
            </a:pPr>
            <a:r>
              <a:t>Clear controls improve usability.</a:t>
            </a:r>
          </a:p>
          <a:p>
            <a:pPr>
              <a:spcAft>
                <a:spcPts val="1200"/>
              </a:spcAft>
              <a:defRPr sz="1900"/>
            </a:pPr>
            <a:r>
              <a:t>Comfort should be considered when designing experiences.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9. AR/VR Applications</a:t>
            </a:r>
          </a:p>
        </p:txBody>
      </p:sp>
      <p:pic>
        <p:nvPicPr>
          <p:cNvPr id="4" name="Picture 3" descr="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Education: interactive models and virtual laboratories.</a:t>
            </a:r>
          </a:p>
          <a:p>
            <a:pPr>
              <a:spcAft>
                <a:spcPts val="1200"/>
              </a:spcAft>
              <a:defRPr sz="1900"/>
            </a:pPr>
            <a:r>
              <a:t>Healthcare: training, visualization, and rehabilitation.</a:t>
            </a:r>
          </a:p>
          <a:p>
            <a:pPr>
              <a:spcAft>
                <a:spcPts val="1200"/>
              </a:spcAft>
              <a:defRPr sz="1900"/>
            </a:pPr>
            <a:r>
              <a:t>Engineering: design visualization and simulation.</a:t>
            </a:r>
          </a:p>
          <a:p>
            <a:pPr>
              <a:spcAft>
                <a:spcPts val="1200"/>
              </a:spcAft>
              <a:defRPr sz="1900"/>
            </a:pPr>
            <a:r>
              <a:t>Gaming and entertainment: immersive digital worlds.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10. AR/VR Development Process</a:t>
            </a:r>
          </a:p>
        </p:txBody>
      </p:sp>
      <p:pic>
        <p:nvPicPr>
          <p:cNvPr id="4" name="Picture 3" descr="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Identify the problem and target users.</a:t>
            </a:r>
          </a:p>
          <a:p>
            <a:pPr>
              <a:spcAft>
                <a:spcPts val="1200"/>
              </a:spcAft>
              <a:defRPr sz="1900"/>
            </a:pPr>
            <a:r>
              <a:t>2. Choose AR or VR for the use case.</a:t>
            </a:r>
          </a:p>
          <a:p>
            <a:pPr>
              <a:spcAft>
                <a:spcPts val="1200"/>
              </a:spcAft>
              <a:defRPr sz="1900"/>
            </a:pPr>
            <a:r>
              <a:t>3. Design the experience and interaction flow.</a:t>
            </a:r>
          </a:p>
          <a:p>
            <a:pPr>
              <a:spcAft>
                <a:spcPts val="1200"/>
              </a:spcAft>
              <a:defRPr sz="1900"/>
            </a:pPr>
            <a:r>
              <a:t>4. Create/import 3D assets.</a:t>
            </a:r>
          </a:p>
          <a:p>
            <a:pPr>
              <a:spcAft>
                <a:spcPts val="1200"/>
              </a:spcAft>
              <a:defRPr sz="1900"/>
            </a:pPr>
            <a:r>
              <a:t>5. Implement tracking and interaction.</a:t>
            </a:r>
          </a:p>
          <a:p>
            <a:pPr>
              <a:spcAft>
                <a:spcPts val="1200"/>
              </a:spcAft>
              <a:defRPr sz="1900"/>
            </a:pPr>
            <a:r>
              <a:t>6. Test performance and usability.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11. Advantages</a:t>
            </a:r>
          </a:p>
        </p:txBody>
      </p:sp>
      <p:pic>
        <p:nvPicPr>
          <p:cNvPr id="4" name="Picture 3" descr="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Interactive and engaging experiences.</a:t>
            </a:r>
          </a:p>
          <a:p>
            <a:pPr>
              <a:spcAft>
                <a:spcPts val="1200"/>
              </a:spcAft>
              <a:defRPr sz="1900"/>
            </a:pPr>
            <a:r>
              <a:t>Visualization of complex concepts.</a:t>
            </a:r>
          </a:p>
          <a:p>
            <a:pPr>
              <a:spcAft>
                <a:spcPts val="1200"/>
              </a:spcAft>
              <a:defRPr sz="1900"/>
            </a:pPr>
            <a:r>
              <a:t>Safe practice through simulations.</a:t>
            </a:r>
          </a:p>
          <a:p>
            <a:pPr>
              <a:spcAft>
                <a:spcPts val="1200"/>
              </a:spcAft>
              <a:defRPr sz="1900"/>
            </a:pPr>
            <a:r>
              <a:t>Useful for training and product visualization.</a:t>
            </a:r>
          </a:p>
          <a:p>
            <a:pPr>
              <a:spcAft>
                <a:spcPts val="1200"/>
              </a:spcAft>
              <a:defRPr sz="1900"/>
            </a:pPr>
            <a:r>
              <a:t>Creates new forms of digital interaction.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12. Challenges</a:t>
            </a:r>
          </a:p>
        </p:txBody>
      </p:sp>
      <p:pic>
        <p:nvPicPr>
          <p:cNvPr id="4" name="Picture 3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Hardware and development can be costly.</a:t>
            </a:r>
          </a:p>
          <a:p>
            <a:pPr>
              <a:spcAft>
                <a:spcPts val="1200"/>
              </a:spcAft>
              <a:defRPr sz="1900"/>
            </a:pPr>
            <a:r>
              <a:t>High-quality 3D content requires effort.</a:t>
            </a:r>
          </a:p>
          <a:p>
            <a:pPr>
              <a:spcAft>
                <a:spcPts val="1200"/>
              </a:spcAft>
              <a:defRPr sz="1900"/>
            </a:pPr>
            <a:r>
              <a:t>Tracking and performance must be reliable.</a:t>
            </a:r>
          </a:p>
          <a:p>
            <a:pPr>
              <a:spcAft>
                <a:spcPts val="1200"/>
              </a:spcAft>
              <a:defRPr sz="1900"/>
            </a:pPr>
            <a:r>
              <a:t>Some users may experience discomfort.</a:t>
            </a:r>
          </a:p>
          <a:p>
            <a:pPr>
              <a:spcAft>
                <a:spcPts val="1200"/>
              </a:spcAft>
              <a:defRPr sz="1900"/>
            </a:pPr>
            <a:r>
              <a:t>Privacy and security should be considered.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3755"/>
                </a:solidFill>
              </a:defRPr>
            </a:pPr>
            <a:r>
              <a:t>13. Mini Project</a:t>
            </a:r>
          </a:p>
        </p:txBody>
      </p:sp>
      <p:pic>
        <p:nvPicPr>
          <p:cNvPr id="4" name="Picture 3" descr="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97280"/>
            <a:ext cx="4983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5715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Project: AR Educational Object Viewer.</a:t>
            </a:r>
          </a:p>
          <a:p>
            <a:pPr>
              <a:spcAft>
                <a:spcPts val="1200"/>
              </a:spcAft>
              <a:defRPr sz="1900"/>
            </a:pPr>
            <a:r>
              <a:t>Allow students to view and explore 3D educational objects.</a:t>
            </a:r>
          </a:p>
          <a:p>
            <a:pPr>
              <a:spcAft>
                <a:spcPts val="1200"/>
              </a:spcAft>
              <a:defRPr sz="1900"/>
            </a:pPr>
            <a:r>
              <a:t>Features: placement, rotation, scaling, labels, and interaction.</a:t>
            </a:r>
          </a:p>
          <a:p>
            <a:pPr>
              <a:spcAft>
                <a:spcPts val="1200"/>
              </a:spcAft>
              <a:defRPr sz="1900"/>
            </a:pPr>
            <a:r>
              <a:t>Learning outcome: understand tracking, 3D objects, and AR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